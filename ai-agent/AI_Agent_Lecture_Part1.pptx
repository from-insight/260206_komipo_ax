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0" y="-2103120"/>
            <a:ext cx="7772400" cy="7772400"/>
          </a:xfrm>
          <a:prstGeom prst="ellipse">
            <a:avLst/>
          </a:prstGeom>
          <a:solidFill>
            <a:srgbClr val="072040"/>
          </a:solidFill>
          <a:ln w="12700">
            <a:solidFill>
              <a:srgbClr val="07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548640"/>
            <a:ext cx="4572000" cy="45720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60120"/>
            <a:ext cx="1417320" cy="31089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PART 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에이전트가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02920" y="2304288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그리는 미래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02920" y="3383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899B8"/>
                </a:solidFill>
              </a:rPr>
              <a:t>AGI &amp; SGI — 지능의 진화와 에이전트가 여는 새로운 세계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913632"/>
            <a:ext cx="347472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0690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A5E9"/>
                </a:solidFill>
              </a:rPr>
              <a:t>젠슨 황  •  샘 알트먼  •  앤드류 응  •  데미스 허사비스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91525"/>
          </a:solidFill>
          <a:ln w="12700">
            <a:solidFill>
              <a:srgbClr val="0915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9B8"/>
                </a:solidFill>
              </a:rPr>
              <a:t>AI Agent Lecture Series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0058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82880" y="29718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7899B8"/>
                </a:solidFill>
              </a:rPr>
              <a:t>AI Agent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7899B8"/>
                </a:solidFill>
              </a:rPr>
              <a:t>Lecture Series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7899B8"/>
                </a:solidFill>
              </a:rPr>
              <a:t>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71800" y="256032"/>
            <a:ext cx="5989320" cy="621792"/>
          </a:xfrm>
          <a:prstGeom prst="rect">
            <a:avLst/>
          </a:prstGeom>
          <a:solidFill>
            <a:srgbClr val="0D2A4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256032"/>
            <a:ext cx="64008" cy="6217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90672" y="30175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A5E9"/>
                </a:solidFill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703320" y="3108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Introduction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03320" y="58521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9B8"/>
                </a:solidFill>
              </a:rPr>
              <a:t>지능의 진화: AGI에서 SGI까지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0" y="4389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[ 현재 강의 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71800" y="928116"/>
            <a:ext cx="598932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0672" y="97383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4A6A"/>
                </a:solidFill>
              </a:rPr>
              <a:t>02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03320" y="9829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F0FF"/>
                </a:solidFill>
              </a:rPr>
              <a:t>Core Logic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03320" y="125730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9B8"/>
                </a:solidFill>
              </a:rPr>
              <a:t>에이전트의 해부학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71800" y="1600200"/>
            <a:ext cx="598932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0672" y="164592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4A6A"/>
                </a:solidFill>
              </a:rPr>
              <a:t>03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703320" y="16550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F0FF"/>
                </a:solidFill>
              </a:rPr>
              <a:t>Trends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03320" y="192938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9B8"/>
                </a:solidFill>
              </a:rPr>
              <a:t>2026년 최신 활용 트렌드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71800" y="2272284"/>
            <a:ext cx="598932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90672" y="231800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4A6A"/>
                </a:solidFill>
              </a:rPr>
              <a:t>04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703320" y="23271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F0FF"/>
                </a:solidFill>
              </a:rPr>
              <a:t>Case Study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03320" y="260146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9B8"/>
                </a:solidFill>
              </a:rPr>
              <a:t>산업별 우수 사례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971800" y="2944368"/>
            <a:ext cx="598932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90672" y="299008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4A6A"/>
                </a:solidFill>
              </a:rPr>
              <a:t>05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3703320" y="29992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F0FF"/>
                </a:solidFill>
              </a:rPr>
              <a:t>Guide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703320" y="327355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9B8"/>
                </a:solidFill>
              </a:rPr>
              <a:t>활용 시 주의점 및 한계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971800" y="3616452"/>
            <a:ext cx="598932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90672" y="366217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4A6A"/>
                </a:solidFill>
              </a:rPr>
              <a:t>06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3703320" y="36713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F0FF"/>
                </a:solidFill>
              </a:rPr>
              <a:t>Platform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703320" y="394563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9B8"/>
                </a:solidFill>
              </a:rPr>
              <a:t>에이전트 솔루션 비교 (2026)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971800" y="4288536"/>
            <a:ext cx="598932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90672" y="433425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4A6A"/>
                </a:solidFill>
              </a:rPr>
              <a:t>07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370332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F0FF"/>
                </a:solidFill>
              </a:rPr>
              <a:t>Demo &amp; Insight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703320" y="461772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99B8"/>
                </a:solidFill>
              </a:rPr>
              <a:t>시연 및 마무리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0" y="-548640"/>
            <a:ext cx="54864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0" b="1" dirty="0">
                <a:solidFill>
                  <a:srgbClr val="091F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0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920240" cy="31089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SECTION  1 /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6858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리더들의</a:t>
            </a:r>
            <a:endParaRPr lang="en-US" sz="5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인사이트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02920" y="3840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899B8"/>
                </a:solidFill>
              </a:rPr>
              <a:t>2025–2026  빅테크 리더 4인의 핵심 메시지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99B8"/>
                </a:solidFill>
              </a:rPr>
              <a:t>글로벌 리더들의 인사이트  (1/2)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8229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658368"/>
            <a:ext cx="4041648" cy="4297680"/>
          </a:xfrm>
          <a:prstGeom prst="rect">
            <a:avLst/>
          </a:prstGeom>
          <a:solidFill>
            <a:srgbClr val="15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658368"/>
            <a:ext cx="4041648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73152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548640" y="1344168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젠슨 황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664208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9B8"/>
                </a:solidFill>
              </a:rPr>
              <a:t>NVIDIA CEO  |  2026년 3월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38BDF8"/>
                </a:solidFill>
              </a:rPr>
              <a:t>"에이전트형 AI의 변곡점(Agentic AI Inflection Point)"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2F0FF"/>
                </a:solidFill>
              </a:rPr>
              <a:t>에 서 있습니다.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2F0FF"/>
                </a:solidFill>
              </a:rPr>
              <a:t>AI는 이제 스스로 도구를 사용하고 문제를 해결하는 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F59E0B"/>
                </a:solidFill>
              </a:rPr>
              <a:t>'디지털 직원이자 파트너'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2F0FF"/>
                </a:solidFill>
              </a:rPr>
              <a:t>가 되었습니다.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2F0FF"/>
                </a:solidFill>
              </a:rPr>
              <a:t>이것이 모든 산업의 지형을 바꿀 것입니다.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54880" y="658368"/>
            <a:ext cx="4041648" cy="4297680"/>
          </a:xfrm>
          <a:prstGeom prst="rect">
            <a:avLst/>
          </a:prstGeom>
          <a:solidFill>
            <a:srgbClr val="15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658368"/>
            <a:ext cx="404164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73152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5800" dirty="0"/>
          </a:p>
        </p:txBody>
      </p:sp>
      <p:sp>
        <p:nvSpPr>
          <p:cNvPr id="14" name="Text 12"/>
          <p:cNvSpPr/>
          <p:nvPr/>
        </p:nvSpPr>
        <p:spPr>
          <a:xfrm>
            <a:off x="4956048" y="1344168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샘 알트먼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56048" y="1664208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9B8"/>
                </a:solidFill>
              </a:rPr>
              <a:t>OpenAI CEO  |  2025년 말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56048" y="201168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F59E0B"/>
                </a:solidFill>
              </a:rPr>
              <a:t>초지능(Superintelligence)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2F0FF"/>
                </a:solidFill>
              </a:rPr>
              <a:t>은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2F0FF"/>
                </a:solidFill>
              </a:rPr>
              <a:t>수천 일(a few thousand days) 안에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2F0FF"/>
                </a:solidFill>
              </a:rPr>
              <a:t>도달할 가능성이 높습니다.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2F0FF"/>
                </a:solidFill>
              </a:rPr>
              <a:t>경제 활동의 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F59E0B"/>
                </a:solidFill>
              </a:rPr>
              <a:t>30~40%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2F0FF"/>
                </a:solidFill>
              </a:rPr>
              <a:t>가 AI 에이전트에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2F0FF"/>
                </a:solidFill>
              </a:rPr>
              <a:t>의해 수행되는 세상이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2F0FF"/>
                </a:solidFill>
              </a:rPr>
              <a:t>머지않았습니다.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99B8"/>
                </a:solidFill>
              </a:rPr>
              <a:t>글로벌 리더들의 인사이트  (2/2)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566928"/>
            <a:ext cx="8229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658368"/>
            <a:ext cx="4041648" cy="4297680"/>
          </a:xfrm>
          <a:prstGeom prst="rect">
            <a:avLst/>
          </a:prstGeom>
          <a:solidFill>
            <a:srgbClr val="15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658368"/>
            <a:ext cx="404164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73152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548640" y="1344168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앤드류 응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664208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9B8"/>
                </a:solidFill>
              </a:rPr>
              <a:t>Stanford 교수  |  2026년 2월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10B981"/>
                </a:solidFill>
              </a:rPr>
              <a:t>에이전트 기반 워크플로우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10B981"/>
                </a:solidFill>
              </a:rPr>
              <a:t>(Agentic Workflow)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2F0FF"/>
                </a:solidFill>
              </a:rPr>
              <a:t>를
구축하는 것이 기업에게는
</a:t>
            </a:r>
            <a:pPr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10B981"/>
                </a:solidFill>
              </a:rPr>
              <a:t>10배 이상의 가치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2F0FF"/>
                </a:solidFill>
              </a:rPr>
              <a:t>를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2F0FF"/>
                </a:solidFill>
              </a:rPr>
              <a:t>창출합니다.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2F0FF"/>
                </a:solidFill>
              </a:rPr>
              <a:t>단순히 더 큰 모델을 기다리는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2F0FF"/>
                </a:solidFill>
              </a:rPr>
              <a:t>것보다 훨씬 효과적입니다.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54880" y="658368"/>
            <a:ext cx="4041648" cy="4297680"/>
          </a:xfrm>
          <a:prstGeom prst="rect">
            <a:avLst/>
          </a:prstGeom>
          <a:solidFill>
            <a:srgbClr val="15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658368"/>
            <a:ext cx="4041648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73152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A85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5800" dirty="0"/>
          </a:p>
        </p:txBody>
      </p:sp>
      <p:sp>
        <p:nvSpPr>
          <p:cNvPr id="14" name="Text 12"/>
          <p:cNvSpPr/>
          <p:nvPr/>
        </p:nvSpPr>
        <p:spPr>
          <a:xfrm>
            <a:off x="4956048" y="1344168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</a:rPr>
              <a:t>데미스 허사비스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56048" y="1664208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9B8"/>
                </a:solidFill>
              </a:rPr>
              <a:t>Google DeepMind CEO  |  2026년 1월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56048" y="201168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A855F7"/>
                </a:solidFill>
              </a:rPr>
              <a:t>AGI로 향하는 카운트다운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2F0FF"/>
                </a:solidFill>
              </a:rPr>
              <a:t>은
시작되었습니다.
AI가 스스로 과학적 발견을
가속화하는 단계에 진입했으며,
</a:t>
            </a:r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A855F7"/>
                </a:solidFill>
              </a:rPr>
              <a:t>산업혁명보다 10배 빠른 속도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2F0FF"/>
                </a:solidFill>
              </a:rPr>
              <a:t>로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2F0FF"/>
                </a:solidFill>
              </a:rPr>
              <a:t>문명을 재편할 것입니다.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용어 정리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713232"/>
            <a:ext cx="3913632" cy="4224528"/>
          </a:xfrm>
          <a:prstGeom prst="rect">
            <a:avLst/>
          </a:prstGeom>
          <a:solidFill>
            <a:srgbClr val="0A2040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713232"/>
            <a:ext cx="3913632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74980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AGI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148840" y="75895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7E6FF"/>
                </a:solidFill>
              </a:rPr>
              <a:t>Artificial General Intelligence</a:t>
            </a:r>
            <a:endParaRPr lang="en-US" sz="1000" dirty="0"/>
          </a:p>
          <a:p>
            <a:pPr algn="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7E6FF"/>
                </a:solidFill>
              </a:rPr>
              <a:t>인공 일반 지능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60934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정 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86537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2F0FF"/>
                </a:solidFill>
              </a:rPr>
              <a:t>인간이 수행할 수 있는 모든 지적 작업을 수행할 수 있는 지능.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2026년 기준 정의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77063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2F0FF"/>
                </a:solidFill>
              </a:rPr>
              <a:t>특정 분야가 아닌, 낯선 환경에서도 스스로 학습하고 계획을 세워 목표를 달성하는 단계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8912" y="4526280"/>
            <a:ext cx="3749040" cy="292608"/>
          </a:xfrm>
          <a:prstGeom prst="rect">
            <a:avLst/>
          </a:prstGeom>
          <a:solidFill>
            <a:srgbClr val="0618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4526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현재 AI 에이전트는 AGI의 전 단계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2313432"/>
            <a:ext cx="822960" cy="82296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23134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VS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82896" y="713232"/>
            <a:ext cx="3913632" cy="4224528"/>
          </a:xfrm>
          <a:prstGeom prst="rect">
            <a:avLst/>
          </a:prstGeom>
          <a:solidFill>
            <a:srgbClr val="160A28"/>
          </a:solidFill>
          <a:ln w="254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82896" y="713232"/>
            <a:ext cx="3913632" cy="7772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74980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SGI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675120" y="75895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D0FF"/>
                </a:solidFill>
              </a:rPr>
              <a:t>Super General Intelligence</a:t>
            </a:r>
            <a:endParaRPr lang="en-US" sz="1000" dirty="0"/>
          </a:p>
          <a:p>
            <a:pPr algn="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8D0FF"/>
                </a:solidFill>
              </a:rPr>
              <a:t>초일반 지능 / 초지능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160934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정 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186537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2F0FF"/>
                </a:solidFill>
              </a:rPr>
              <a:t>AGI를 뛰어넘어 인류 전체의 지능 합보다 뛰어난 단계.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0" y="2514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강의 포인트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2770632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2F0FF"/>
                </a:solidFill>
              </a:rPr>
              <a:t>우리가 오늘 배우는 에이전트는 AGI로 가기 위한 가장 강력한 엔진이며, SGI 시대를 대비하는 우리의 첫 번째 도구입니다.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974336" y="4526280"/>
            <a:ext cx="3749040" cy="292608"/>
          </a:xfrm>
          <a:prstGeom prst="rect">
            <a:avLst/>
          </a:prstGeom>
          <a:solidFill>
            <a:srgbClr val="0E061E"/>
          </a:solidFill>
          <a:ln w="12700">
            <a:solidFill>
              <a:srgbClr val="3A1A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74336" y="4526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샘 알트먼: "수천 일 안에 도달 가능"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에이전트의 본질 구조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4980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899B8"/>
                </a:solidFill>
              </a:rPr>
              <a:t>에이전트  =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7472" y="1389888"/>
            <a:ext cx="2578608" cy="2468880"/>
          </a:xfrm>
          <a:prstGeom prst="rect">
            <a:avLst/>
          </a:prstGeom>
          <a:solidFill>
            <a:srgbClr val="152236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389888"/>
            <a:ext cx="2578608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417320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84632" y="199339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뇌 (Brain)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" y="2377440"/>
            <a:ext cx="2304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E2F0FF"/>
                </a:solidFill>
              </a:rPr>
              <a:t>추론하고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E2F0FF"/>
                </a:solidFill>
              </a:rPr>
              <a:t>의사결정한다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46120" y="1389888"/>
            <a:ext cx="2578608" cy="2468880"/>
          </a:xfrm>
          <a:prstGeom prst="rect">
            <a:avLst/>
          </a:prstGeom>
          <a:solidFill>
            <a:srgbClr val="152236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389888"/>
            <a:ext cx="257860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417320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Loop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83280" y="199339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의지 (Will)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2377440"/>
            <a:ext cx="2304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E2F0FF"/>
                </a:solidFill>
              </a:rPr>
              <a:t>반복 실행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E2F0FF"/>
                </a:solidFill>
              </a:rPr>
              <a:t>자율적 판단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44768" y="1389888"/>
            <a:ext cx="2578608" cy="2468880"/>
          </a:xfrm>
          <a:prstGeom prst="rect">
            <a:avLst/>
          </a:prstGeom>
          <a:solidFill>
            <a:srgbClr val="152236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1389888"/>
            <a:ext cx="257860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1417320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81928" y="199339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손발 (Action)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81928" y="2377440"/>
            <a:ext cx="2304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E2F0FF"/>
                </a:solidFill>
              </a:rPr>
              <a:t>API · 검색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E2F0FF"/>
                </a:solidFill>
              </a:rPr>
              <a:t>코드 실행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944368" y="23957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899B8"/>
                </a:solidFill>
              </a:rPr>
              <a:t>+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833872" y="23957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899B8"/>
                </a:solidFill>
              </a:rPr>
              <a:t>+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347472" y="4041648"/>
            <a:ext cx="8449056" cy="914400"/>
          </a:xfrm>
          <a:prstGeom prst="rect">
            <a:avLst/>
          </a:prstGeom>
          <a:solidFill>
            <a:srgbClr val="0A2235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4041648"/>
            <a:ext cx="64008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4087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핵심 인사이트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435254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2F0FF"/>
                </a:solidFill>
              </a:rPr>
              <a:t>이 세 가지 요소의 결합이 단순한 챗봇과 에이전트를 구분합니다. 에이전트는 목표를 받으면 스스로 계획하고, 도구를 선택해 실행하며, 결과를 평가해 반복합니다.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없이 AI 에이전트 만들기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99B8"/>
                </a:solidFill>
              </a:rPr>
              <a:t>Native Method — 플랫폼 없이 원리로 구현하는 3가지 방법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60120"/>
            <a:ext cx="8449056" cy="1078992"/>
          </a:xfrm>
          <a:prstGeom prst="rect">
            <a:avLst/>
          </a:prstGeom>
          <a:solidFill>
            <a:srgbClr val="15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96012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207008"/>
            <a:ext cx="585216" cy="58521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2070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43584" y="105156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</a:rPr>
              <a:t>System Prompting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43584" y="1380744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2F0FF"/>
                </a:solidFill>
              </a:rPr>
              <a:t>LLM에게 에이전트 역할을 부여합니다. "너는 에이전트야. 문제를 해결할 때까지 스스로 생각(Think)하고 행동(Action)해"라고 System 프롬프트를 정의합니다.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2130552"/>
            <a:ext cx="8449056" cy="1078992"/>
          </a:xfrm>
          <a:prstGeom prst="rect">
            <a:avLst/>
          </a:prstGeom>
          <a:solidFill>
            <a:srgbClr val="15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2130552"/>
            <a:ext cx="64008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2377440"/>
            <a:ext cx="585216" cy="5852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43584" y="222199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ReAct Framework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43584" y="25328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99B8"/>
                </a:solidFill>
              </a:rPr>
              <a:t>Reasoning + Acting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43584" y="2715768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2F0FF"/>
                </a:solidFill>
              </a:rPr>
              <a:t>질문 → 생각 → 도구 선택 → 결과 관찰 → 최종 답변 의 순환 구조를 프롬프트나 코드(Python)로 강제합니다.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" y="3300984"/>
            <a:ext cx="8449056" cy="1078992"/>
          </a:xfrm>
          <a:prstGeom prst="rect">
            <a:avLst/>
          </a:prstGeom>
          <a:solidFill>
            <a:srgbClr val="15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3300984"/>
            <a:ext cx="64008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547872"/>
            <a:ext cx="585216" cy="5852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5478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43584" y="3392424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Function Calling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43584" y="3721608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2F0FF"/>
                </a:solidFill>
              </a:rPr>
              <a:t>모델이 특정 API나 함수를 호출할 수 있도록 데이터 규격(JSON)을 맞추는 작업만으로도 별도 플랫폼 없이 에이전트 기능을 구현할 수 있습니다.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" y="4480560"/>
            <a:ext cx="8449056" cy="475488"/>
          </a:xfrm>
          <a:prstGeom prst="rect">
            <a:avLst/>
          </a:prstGeom>
          <a:solidFill>
            <a:srgbClr val="091E2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4480560"/>
            <a:ext cx="64008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44805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</a:rPr>
              <a:t>[핵심]  유료 툴이 없어도 프롬프트 구조와 API 연결 원리만 알면, 보안망 내부에서도 충분히 강력한 에이전트를 개발할 수 있습니다.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1828800"/>
            <a:ext cx="6858000" cy="6858000"/>
          </a:xfrm>
          <a:prstGeom prst="ellipse">
            <a:avLst/>
          </a:prstGeom>
          <a:solidFill>
            <a:srgbClr val="0EA5E9">
              <a:alpha val="7000"/>
            </a:srgbClr>
          </a:solidFill>
          <a:ln w="12700">
            <a:solidFill>
              <a:srgbClr val="0EA5E9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749808"/>
            <a:ext cx="2011680" cy="310896"/>
          </a:xfrm>
          <a:prstGeom prst="rect">
            <a:avLst/>
          </a:prstGeom>
          <a:solidFill>
            <a:srgbClr val="0A2235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498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8BDF8"/>
                </a:solidFill>
              </a:rPr>
              <a:t>PART 1  요약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3가지 핵심 메시지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502920" y="2249424"/>
            <a:ext cx="420624" cy="42062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49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8992" y="2176272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2F0FF"/>
                </a:solidFill>
              </a:rPr>
              <a:t>우리는 지금 에이전트형 AI의 변곡점(Agentic AI Inflection Point)에 서 있습니다.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026664"/>
            <a:ext cx="420624" cy="4206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78992" y="2953512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2F0FF"/>
                </a:solidFill>
              </a:rPr>
              <a:t>AGI → SGI로 향하는 여정에서, 에이전트는 가장 강력한 엔진이자 첫 번째 도구입니다.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803904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03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8992" y="3730752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2F0FF"/>
                </a:solidFill>
              </a:rPr>
              <a:t>프롬프트 구조와 API 원리만으로도, 지금 당장 강력한 에이전트를 직접 만들 수 있습니다.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91525"/>
          </a:solidFill>
          <a:ln w="12700">
            <a:solidFill>
              <a:srgbClr val="0915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다음: [Part 2]  Core Logic — 에이전트의 해부학  →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에이전트가 그리는 미래</dc:title>
  <dc:subject>PptxGenJS Presentation</dc:subject>
  <dc:creator>PptxGenJS</dc:creator>
  <cp:lastModifiedBy>PptxGenJS</cp:lastModifiedBy>
  <cp:revision>1</cp:revision>
  <dcterms:created xsi:type="dcterms:W3CDTF">2026-04-20T09:14:27Z</dcterms:created>
  <dcterms:modified xsi:type="dcterms:W3CDTF">2026-04-20T09:14:27Z</dcterms:modified>
</cp:coreProperties>
</file>