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ews1.kr/bio/general/6181061" TargetMode="External"/><Relationship Id="rId2" Type="http://schemas.openxmlformats.org/officeDocument/2006/relationships/hyperlink" Target="https://www.aha.org/aha-center-health-innovation-market-scan/2026-04-14-6-health-systems-enhancing-care-delivery-ambient-ai-scribes" TargetMode="External"/><Relationship Id="rId3" Type="http://schemas.openxmlformats.org/officeDocument/2006/relationships/hyperlink" Target="https://www.dailymedi.com/news/news_view.php?wr_id=933243" TargetMode="External"/><Relationship Id="rId4" Type="http://schemas.openxmlformats.org/officeDocument/2006/relationships/hyperlink" Target="https://healthit.gov/data/data-briefs/hospital-trends-use-evaluation-and-governance-predictive-ai-2023-2024/" TargetMode="External"/><Relationship Id="rId5" Type="http://schemas.openxmlformats.org/officeDocument/2006/relationships/hyperlink" Target="https://m.medicaltimes.com/News/NewsView.html?ID=1162325" TargetMode="External"/><Relationship Id="rId6" Type="http://schemas.openxmlformats.org/officeDocument/2006/relationships/hyperlink" Target="https://www.skax.co.kr/generative-ai/report-automation" TargetMode="External"/><Relationship Id="rId7" Type="http://schemas.openxmlformats.org/officeDocument/2006/relationships/hyperlink" Target="https://www.amc.seoul.kr/asan/healthinfo/patienteducation/patientEducationList.do" TargetMode="External"/><Relationship Id="rId8" Type="http://schemas.openxmlformats.org/officeDocument/2006/relationships/hyperlink" Target="https://clinicaltrials.gov/study/NCT07069504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oreadeep.com/blog/ai-insurance-auto" TargetMode="External"/><Relationship Id="rId2" Type="http://schemas.openxmlformats.org/officeDocument/2006/relationships/hyperlink" Target="https://www.wolterskluwer.com/en/expert-insights/legal-ai-adoption-time-savings-revenue-growth" TargetMode="External"/><Relationship Id="rId3" Type="http://schemas.openxmlformats.org/officeDocument/2006/relationships/hyperlink" Target="https://www.skax.co.kr/insight/trend/3000" TargetMode="External"/><Relationship Id="rId4" Type="http://schemas.openxmlformats.org/officeDocument/2006/relationships/hyperlink" Target="https://app.dalpha.so/blog/manufacturing/" TargetMode="External"/><Relationship Id="rId5" Type="http://schemas.openxmlformats.org/officeDocument/2006/relationships/hyperlink" Target="https://www.samsungsds.com/kr/insights/ai_use_cases.html" TargetMode="External"/><Relationship Id="rId6" Type="http://schemas.openxmlformats.org/officeDocument/2006/relationships/hyperlink" Target="https://www.pwc.com/kr/ko/insights/samil-insight/samilpwc_ai-business-use-cases.pdf" TargetMode="External"/><Relationship Id="rId7" Type="http://schemas.openxmlformats.org/officeDocument/2006/relationships/hyperlink" Target="https://www.niit.com/en/learning-outsourcing/generative-ai/" TargetMode="External"/><Relationship Id="rId8" Type="http://schemas.openxmlformats.org/officeDocument/2006/relationships/hyperlink" Target="https://joshbersin.com/2026/02/new-research-how-ai-transforms-400-billion-of-corporate-learning/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9D8E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HOSPITAL WORKFLOW AUTOMATION ·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2240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업무 자동화 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33832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6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의뢰·회송 문서, 통계 보고서, 교육자료 —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6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어디서나 쓰이는 자동화를 병원 업무에 적용하기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484632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1B4C82"/>
          </a:solidFill>
          <a:ln w="12700">
            <a:solidFill>
              <a:srgbClr val="3A6C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8463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시연용 자료 · 가상 샘플 데이터 (실제 환자정보 아님)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자동화 4가지 영역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병원이라는 도메인을 빼고 보면, 모두 어느 조직에서나 쓰는 보편적인 자동화입니다.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487854" cy="3108960"/>
          </a:xfrm>
          <a:prstGeom prst="roundRect">
            <a:avLst>
              <a:gd name="adj" fmla="val 294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2487854" cy="146304"/>
          </a:xfrm>
          <a:prstGeom prst="rect">
            <a:avLst/>
          </a:prstGeom>
          <a:solidFill>
            <a:srgbClr val="1763C7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331720"/>
            <a:ext cx="640080" cy="640080"/>
          </a:xfrm>
          <a:prstGeom prst="ellipse">
            <a:avLst/>
          </a:prstGeom>
          <a:solidFill>
            <a:srgbClr val="1763C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03065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의뢰·회송 문서 자동화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203065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한 줄을 정식 서식으로 변환하고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진료과·긴급도를 자동 분류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47974" y="2011680"/>
            <a:ext cx="2487854" cy="3108960"/>
          </a:xfrm>
          <a:prstGeom prst="roundRect">
            <a:avLst>
              <a:gd name="adj" fmla="val 294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47974" y="2011680"/>
            <a:ext cx="2487854" cy="146304"/>
          </a:xfrm>
          <a:prstGeom prst="rect">
            <a:avLst/>
          </a:prstGeom>
          <a:solidFill>
            <a:srgbClr val="0F9D8E"/>
          </a:solidFill>
          <a:ln/>
        </p:spPr>
      </p:sp>
      <p:sp>
        <p:nvSpPr>
          <p:cNvPr id="13" name="Shape 11"/>
          <p:cNvSpPr/>
          <p:nvPr/>
        </p:nvSpPr>
        <p:spPr>
          <a:xfrm>
            <a:off x="3768014" y="2331720"/>
            <a:ext cx="640080" cy="640080"/>
          </a:xfrm>
          <a:prstGeom prst="ellipse">
            <a:avLst/>
          </a:prstGeom>
          <a:solidFill>
            <a:srgbClr val="0F9D8E"/>
          </a:solidFill>
          <a:ln/>
        </p:spPr>
      </p:sp>
      <p:sp>
        <p:nvSpPr>
          <p:cNvPr id="14" name="Text 12"/>
          <p:cNvSpPr/>
          <p:nvPr/>
        </p:nvSpPr>
        <p:spPr>
          <a:xfrm>
            <a:off x="3768014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76574" y="3154680"/>
            <a:ext cx="203065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76574" y="3840480"/>
            <a:ext cx="203065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협력병원별 의뢰 패턴, 진료과별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회송 현황을 분석해 전략 제시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55868" y="2011680"/>
            <a:ext cx="2487854" cy="3108960"/>
          </a:xfrm>
          <a:prstGeom prst="roundRect">
            <a:avLst>
              <a:gd name="adj" fmla="val 294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5868" y="2011680"/>
            <a:ext cx="2487854" cy="1463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6575908" y="233172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75908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84468" y="3154680"/>
            <a:ext cx="203065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자동화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84468" y="3840480"/>
            <a:ext cx="203065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자료와 시각화를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생성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63761" y="2011680"/>
            <a:ext cx="2487854" cy="3108960"/>
          </a:xfrm>
          <a:prstGeom prst="roundRect">
            <a:avLst>
              <a:gd name="adj" fmla="val 294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63761" y="2011680"/>
            <a:ext cx="2487854" cy="146304"/>
          </a:xfrm>
          <a:prstGeom prst="rect">
            <a:avLst/>
          </a:prstGeom>
          <a:solidFill>
            <a:srgbClr val="5B4AD1"/>
          </a:solidFill>
          <a:ln/>
        </p:spPr>
      </p:sp>
      <p:sp>
        <p:nvSpPr>
          <p:cNvPr id="25" name="Shape 23"/>
          <p:cNvSpPr/>
          <p:nvPr/>
        </p:nvSpPr>
        <p:spPr>
          <a:xfrm>
            <a:off x="9383801" y="2331720"/>
            <a:ext cx="640080" cy="640080"/>
          </a:xfrm>
          <a:prstGeom prst="ellipse">
            <a:avLst/>
          </a:prstGeom>
          <a:solidFill>
            <a:srgbClr val="5B4AD1"/>
          </a:solidFill>
          <a:ln/>
        </p:spPr>
      </p:sp>
      <p:sp>
        <p:nvSpPr>
          <p:cNvPr id="26" name="Text 24"/>
          <p:cNvSpPr/>
          <p:nvPr/>
        </p:nvSpPr>
        <p:spPr>
          <a:xfrm>
            <a:off x="9383801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92361" y="3154680"/>
            <a:ext cx="203065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교육자료 제작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92361" y="3840480"/>
            <a:ext cx="203065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대상·수준에 맞춘 교육자료를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맞춤형으로 자동 구성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본 시연은 1·3·4 영역(문서·보고서·교육)을 인터랙티브 예제로 구성했습니다.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업무 자동화 AI · 시연 자료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의뢰·회송 문서 자동화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의사가 적은 한 줄 메모 → 정식 의뢰서 + 자동 분류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6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· 사람이 직접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 시 흉부 압박감, 좌측 어깨 방사통…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서식을 열어 항목마다 옮겨 적기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진료과로 보낼지 판단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긴급도 표기, 사유 문장 작성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10~15분 소요 · 누락·오타 발생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3749040"/>
            <a:ext cx="548640" cy="457200"/>
          </a:xfrm>
          <a:prstGeom prst="rightArrow">
            <a:avLst/>
          </a:prstGeom>
          <a:solidFill>
            <a:srgbClr val="1763C7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201168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E8F1FC"/>
          </a:solidFill>
          <a:ln w="19050">
            <a:solidFill>
              <a:srgbClr val="1763C7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· AI 자동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274320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붙여넣고 버튼 클릭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「진료의뢰서」 서식 자동 작성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분석 → 순환기내과 자동 분류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긴급도 '높음' 자동 판정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1~2분 · 표준화된 결과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5349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5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시간 약 80% 절감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업무 자동화 AI · 시연 자료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· 보고서 자동화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집계 없이, 데이터에서 패턴·시각화·전략 제안까지 자동 생성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221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48840"/>
            <a:ext cx="2522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1,284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52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의뢰 건수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6544" y="2011680"/>
            <a:ext cx="25221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36544" y="2148840"/>
            <a:ext cx="2522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73.8%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36544" y="2788920"/>
            <a:ext cx="252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회송 회신율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2011680"/>
            <a:ext cx="25221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3008" y="2148840"/>
            <a:ext cx="2522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2.4일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33008" y="2788920"/>
            <a:ext cx="252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회신 소요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29471" y="2011680"/>
            <a:ext cx="25221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29471" y="2148840"/>
            <a:ext cx="2522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수시간→수분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029471" y="2788920"/>
            <a:ext cx="252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작성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10911535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 인사이트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4206240"/>
            <a:ext cx="256032" cy="256032"/>
          </a:xfrm>
          <a:prstGeom prst="ellipse">
            <a:avLst/>
          </a:prstGeom>
          <a:solidFill>
            <a:srgbClr val="0F9D8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206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416052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 집중도: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상위 2개 병원이 전체 의뢰의 47.5% → 채널 다변화 필요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0120" y="4754880"/>
            <a:ext cx="256032" cy="256032"/>
          </a:xfrm>
          <a:prstGeom prst="ellipse">
            <a:avLst/>
          </a:prstGeom>
          <a:solidFill>
            <a:srgbClr val="0F9D8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754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47091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 편중: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순환기·내분비내과가 회송의 49% → 협진 패스트트랙 제안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0120" y="5303520"/>
            <a:ext cx="256032" cy="256032"/>
          </a:xfrm>
          <a:prstGeom prst="ellipse">
            <a:avLst/>
          </a:prstGeom>
          <a:solidFill>
            <a:srgbClr val="0F9D8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3035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525780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회신율 하락: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전월비 2.3%p 감소 → 회송 결과 자동 알림 도입 권장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업무 자동화 AI · 시연 자료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교육자료 제작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주제도 대상·분량에 맞춰 모듈 구성과 난이도를 자동 조정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A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조건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9992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의뢰·회송 시스템 활용법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7307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협력병원 의료진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4622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60분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1937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회신율 향상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3749040"/>
            <a:ext cx="502920" cy="457200"/>
          </a:xfrm>
          <a:prstGeom prst="rightArrow">
            <a:avLst/>
          </a:prstGeom>
          <a:solidFill>
            <a:srgbClr val="5B4AD1"/>
          </a:solidFill>
          <a:ln/>
        </p:spPr>
      </p:sp>
      <p:sp>
        <p:nvSpPr>
          <p:cNvPr id="16" name="Shape 14"/>
          <p:cNvSpPr/>
          <p:nvPr/>
        </p:nvSpPr>
        <p:spPr>
          <a:xfrm>
            <a:off x="5074920" y="2011680"/>
            <a:ext cx="64465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49240" y="22402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4A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생성 커리큘럼 (4개 모듈)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49240" y="2743200"/>
            <a:ext cx="5897880" cy="640080"/>
          </a:xfrm>
          <a:prstGeom prst="roundRect">
            <a:avLst>
              <a:gd name="adj" fmla="val 7143"/>
            </a:avLst>
          </a:prstGeom>
          <a:solidFill>
            <a:srgbClr val="F3F1FC"/>
          </a:solidFill>
          <a:ln w="12700">
            <a:solidFill>
              <a:srgbClr val="E0DA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79806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도입 · 왜 중요한가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532120" y="307238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문제 인식과 기대 효과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49240" y="3493008"/>
            <a:ext cx="5897880" cy="640080"/>
          </a:xfrm>
          <a:prstGeom prst="roundRect">
            <a:avLst>
              <a:gd name="adj" fmla="val 7143"/>
            </a:avLst>
          </a:prstGeom>
          <a:solidFill>
            <a:srgbClr val="F3F1FC"/>
          </a:solidFill>
          <a:ln w="12700">
            <a:solidFill>
              <a:srgbClr val="E0DA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354787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핵심 개념 · 표준 절차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532120" y="382219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워크플로우와 체크포인트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4242816"/>
            <a:ext cx="5897880" cy="640080"/>
          </a:xfrm>
          <a:prstGeom prst="roundRect">
            <a:avLst>
              <a:gd name="adj" fmla="val 7143"/>
            </a:avLst>
          </a:prstGeom>
          <a:solidFill>
            <a:srgbClr val="F3F1FC"/>
          </a:solidFill>
          <a:ln w="12700">
            <a:solidFill>
              <a:srgbClr val="E0DA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42976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실습 · 따라하기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532120" y="45720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사례 3종 직접 작성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49240" y="4992624"/>
            <a:ext cx="5897880" cy="640080"/>
          </a:xfrm>
          <a:prstGeom prst="roundRect">
            <a:avLst>
              <a:gd name="adj" fmla="val 7143"/>
            </a:avLst>
          </a:prstGeom>
          <a:solidFill>
            <a:srgbClr val="F3F1FC"/>
          </a:solidFill>
          <a:ln w="12700">
            <a:solidFill>
              <a:srgbClr val="E0DA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504748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정리 · 평가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532120" y="532180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퀴즈와 적용 체크리스트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업무 자동화 AI · 시연 자료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· 제작 과정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없이, 4단계로 시작합니다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아래로 갈수록 자동화 수준이 높아지지만, 1단계만으로도 당장 효과를 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08276"/>
            <a:ext cx="566928" cy="566928"/>
          </a:xfrm>
          <a:prstGeom prst="ellipse">
            <a:avLst/>
          </a:prstGeom>
          <a:solidFill>
            <a:srgbClr val="1763C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082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762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챗봇에 직접 물어보기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19072" y="25603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7F6EE"/>
          </a:solidFill>
          <a:ln/>
        </p:spPr>
      </p:sp>
      <p:sp>
        <p:nvSpPr>
          <p:cNvPr id="10" name="Text 8"/>
          <p:cNvSpPr/>
          <p:nvPr/>
        </p:nvSpPr>
        <p:spPr>
          <a:xfrm>
            <a:off x="1719072" y="25603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5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당장 · 비용 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0" y="2148840"/>
            <a:ext cx="3596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메모·데이터를 붙여넣고 자연어로 지시. 엑셀/CSV 업로드 시 차트·요약까지 생성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214116"/>
            <a:ext cx="566928" cy="566928"/>
          </a:xfrm>
          <a:prstGeom prst="ellipse">
            <a:avLst/>
          </a:prstGeom>
          <a:solidFill>
            <a:srgbClr val="0F9D8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141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318211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지시문을 템플릿으로 저장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719072" y="35661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7F6EE"/>
          </a:solidFill>
          <a:ln/>
        </p:spPr>
      </p:sp>
      <p:sp>
        <p:nvSpPr>
          <p:cNvPr id="17" name="Text 15"/>
          <p:cNvSpPr/>
          <p:nvPr/>
        </p:nvSpPr>
        <p:spPr>
          <a:xfrm>
            <a:off x="1719072" y="35661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5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 · 재사용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0" y="3154680"/>
            <a:ext cx="3596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만든 프롬프트와 예시를 저장해 누가 써도 같은 결과. 팀 전체가 표준 서식 공유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219956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199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91640" y="41879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작업을 자동 실행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719072" y="45720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7F6EE"/>
          </a:solidFill>
          <a:ln/>
        </p:spPr>
      </p:sp>
      <p:sp>
        <p:nvSpPr>
          <p:cNvPr id="24" name="Text 22"/>
          <p:cNvSpPr/>
          <p:nvPr/>
        </p:nvSpPr>
        <p:spPr>
          <a:xfrm>
            <a:off x="1719072" y="4572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5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개입 최소화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0" y="4160520"/>
            <a:ext cx="3596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"매일 아침 어제 데이터 요약"처럼 예약·트리거로 실행. 사람은 결과만 확인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07492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5225796"/>
            <a:ext cx="566928" cy="566928"/>
          </a:xfrm>
          <a:prstGeom prst="ellipse">
            <a:avLst/>
          </a:prstGeom>
          <a:solidFill>
            <a:srgbClr val="0E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2257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691640" y="519379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시스템(EMR)과 API 연동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719072" y="557784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7F6EE"/>
          </a:solidFill>
          <a:ln/>
        </p:spPr>
      </p:sp>
      <p:sp>
        <p:nvSpPr>
          <p:cNvPr id="31" name="Text 29"/>
          <p:cNvSpPr/>
          <p:nvPr/>
        </p:nvSpPr>
        <p:spPr>
          <a:xfrm>
            <a:off x="1719072" y="55778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A5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자동화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72400" y="5166360"/>
            <a:ext cx="35963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입력→작성→분류→저장까지 자동. 가장 강력하나 개발·보안 검토 필요, 검증 후 도입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업무 자동화 AI · 시연 자료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· 핵심 원칙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결과를 얻는 3가지 원칙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9333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31720"/>
            <a:ext cx="284469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1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역할·목표를 구체적으로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"너는 진료협력센터 담당자다. 아래 메모를 정식 의뢰서로 작성하라"처럼 맥락과 목표를 함께 준다.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9178" y="2103120"/>
            <a:ext cx="339333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73498" y="2331720"/>
            <a:ext cx="284469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1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73498" y="3246120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예시를 보여주기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73498" y="397764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출력 형태의 샘플 1~2개를 함께 넣으면(few-shot) 양식이 안정적으로 고정된다.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8277" y="2103120"/>
            <a:ext cx="339333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32597" y="2331720"/>
            <a:ext cx="284469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1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432597" y="3246120"/>
            <a:ext cx="28446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형식을 지정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2597" y="3977640"/>
            <a:ext cx="28446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"표로", "항목별로", "300자 이내로"처럼 형식을 명시하면 후속 편집이 크게 줄어든다.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업무 자동화 AI · 시연 자료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56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YOU START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전 꼭 점검할 7가지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2214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056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개인정보·보안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1563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챗봇에 실데이터 금지. 비식별화·규정 준수 솔루션 사용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36544" y="1920240"/>
            <a:ext cx="252214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9424" y="21031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0564B"/>
          </a:solidFill>
          <a:ln/>
        </p:spPr>
      </p:sp>
      <p:sp>
        <p:nvSpPr>
          <p:cNvPr id="11" name="Text 9"/>
          <p:cNvSpPr/>
          <p:nvPr/>
        </p:nvSpPr>
        <p:spPr>
          <a:xfrm>
            <a:off x="3619424" y="21031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9424" y="246888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최종 검증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9424" y="2834640"/>
            <a:ext cx="21563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초안. 환각 가능 → 의료진 검토·서명 절차 유지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3008" y="1920240"/>
            <a:ext cx="252214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15888" y="21031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6415888" y="21031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15888" y="246888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소재·규제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5888" y="2834640"/>
            <a:ext cx="21563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 의사결정 지원은 의료기기 규제 대상일 수 있음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29471" y="1920240"/>
            <a:ext cx="252214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12351" y="21031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9212351" y="21031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12351" y="246888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12351" y="2834640"/>
            <a:ext cx="21563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부실한 입력은 부실한 결과. 양식·용어 표준화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703320"/>
            <a:ext cx="252214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38862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8862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425196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통합·변화관리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4617720"/>
            <a:ext cx="21563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파일럿 → 교육·피드백 → 단계적 확대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36544" y="3703320"/>
            <a:ext cx="252214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19424" y="38862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5A6B7C"/>
          </a:solidFill>
          <a:ln/>
        </p:spPr>
      </p:sp>
      <p:sp>
        <p:nvSpPr>
          <p:cNvPr id="31" name="Text 29"/>
          <p:cNvSpPr/>
          <p:nvPr/>
        </p:nvSpPr>
        <p:spPr>
          <a:xfrm>
            <a:off x="3619424" y="38862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19424" y="425196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비용·효과(ROI)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19424" y="4617720"/>
            <a:ext cx="21563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"3시간→20분"처럼 정량 지표로 효과 측정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33008" y="3703320"/>
            <a:ext cx="252214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15888" y="38862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5A6B7C"/>
          </a:solidFill>
          <a:ln/>
        </p:spPr>
      </p:sp>
      <p:sp>
        <p:nvSpPr>
          <p:cNvPr id="36" name="Text 34"/>
          <p:cNvSpPr/>
          <p:nvPr/>
        </p:nvSpPr>
        <p:spPr>
          <a:xfrm>
            <a:off x="6415888" y="38862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15888" y="4251960"/>
            <a:ext cx="215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투명성·동의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15888" y="4617720"/>
            <a:ext cx="21563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고지, 편향 주기적 점검으로 신뢰 확보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29471" y="3703320"/>
            <a:ext cx="2522144" cy="1554480"/>
          </a:xfrm>
          <a:prstGeom prst="roundRect">
            <a:avLst>
              <a:gd name="adj" fmla="val 4706"/>
            </a:avLst>
          </a:prstGeom>
          <a:solidFill>
            <a:srgbClr val="0E3A6B"/>
          </a:solidFill>
          <a:ln/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212351" y="3867912"/>
            <a:ext cx="215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12351" y="4160520"/>
            <a:ext cx="21563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행정·문서·교육부터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검증하는 구조로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파일럿 후 확대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업무 자동화 AI · 시연 자료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REAL-WORLD CASES · 의료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국내외 도입 사례 (의료)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의뢰·회송과 임상문서 자동화가 가장 성숙, 데이터 분석은 해외 보편화, 보고서·교육은 도입 초기 단계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7288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128016" cy="1783080"/>
          </a:xfrm>
          <a:prstGeom prst="rect">
            <a:avLst/>
          </a:prstGeom>
          <a:solidFill>
            <a:srgbClr val="1763C7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185416"/>
            <a:ext cx="457200" cy="457200"/>
          </a:xfrm>
          <a:prstGeom prst="ellipse">
            <a:avLst/>
          </a:prstGeom>
          <a:solidFill>
            <a:srgbClr val="1763C7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185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194560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의뢰·회송 문서 자동화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32688" y="274320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274320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</a:t>
            </a:r>
            <a:endParaRPr lang="en-US" sz="950" dirty="0"/>
          </a:p>
        </p:txBody>
      </p:sp>
      <p:sp>
        <p:nvSpPr>
          <p:cNvPr id="12" name="Text 10">
            <a:hlinkClick r:id="rId1" tooltip="출처 보기"/>
          </p:cNvPr>
          <p:cNvSpPr/>
          <p:nvPr/>
        </p:nvSpPr>
        <p:spPr>
          <a:xfrm>
            <a:off x="1828800" y="271576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복지부 AX 스프린트 — 음성 EMR로 전원의뢰서 자동 생성 (서울·강원·전남 시범)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32688" y="329184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DEAF9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29184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A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</a:t>
            </a:r>
            <a:endParaRPr lang="en-US" sz="950" dirty="0"/>
          </a:p>
        </p:txBody>
      </p:sp>
      <p:sp>
        <p:nvSpPr>
          <p:cNvPr id="15" name="Text 13">
            <a:hlinkClick r:id="rId2" tooltip="출처 보기"/>
          </p:cNvPr>
          <p:cNvSpPr/>
          <p:nvPr/>
        </p:nvSpPr>
        <p:spPr>
          <a:xfrm>
            <a:off x="1828800" y="326440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Nuance DAX·Abridge 앰비언트 스크라이브 → EHR 시간 13~16분 단축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78728" y="1965960"/>
            <a:ext cx="527288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8728" y="1965960"/>
            <a:ext cx="128016" cy="1783080"/>
          </a:xfrm>
          <a:prstGeom prst="rect">
            <a:avLst/>
          </a:prstGeom>
          <a:solidFill>
            <a:srgbClr val="0F9D8E"/>
          </a:solidFill>
          <a:ln/>
        </p:spPr>
      </p:sp>
      <p:sp>
        <p:nvSpPr>
          <p:cNvPr id="18" name="Shape 16"/>
          <p:cNvSpPr/>
          <p:nvPr/>
        </p:nvSpPr>
        <p:spPr>
          <a:xfrm>
            <a:off x="6571336" y="2185416"/>
            <a:ext cx="457200" cy="457200"/>
          </a:xfrm>
          <a:prstGeom prst="ellipse">
            <a:avLst/>
          </a:prstGeom>
          <a:solidFill>
            <a:srgbClr val="0F9D8E"/>
          </a:solidFill>
          <a:ln/>
        </p:spPr>
      </p:sp>
      <p:sp>
        <p:nvSpPr>
          <p:cNvPr id="19" name="Text 17"/>
          <p:cNvSpPr/>
          <p:nvPr/>
        </p:nvSpPr>
        <p:spPr>
          <a:xfrm>
            <a:off x="6571336" y="2185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47408" y="2194560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71336" y="274320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/>
        </p:spPr>
      </p:sp>
      <p:sp>
        <p:nvSpPr>
          <p:cNvPr id="22" name="Text 20"/>
          <p:cNvSpPr/>
          <p:nvPr/>
        </p:nvSpPr>
        <p:spPr>
          <a:xfrm>
            <a:off x="6571336" y="274320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</a:t>
            </a:r>
            <a:endParaRPr lang="en-US" sz="950" dirty="0"/>
          </a:p>
        </p:txBody>
      </p:sp>
      <p:sp>
        <p:nvSpPr>
          <p:cNvPr id="23" name="Text 21">
            <a:hlinkClick r:id="rId3" tooltip="출처 보기"/>
          </p:cNvPr>
          <p:cNvSpPr/>
          <p:nvPr/>
        </p:nvSpPr>
        <p:spPr>
          <a:xfrm>
            <a:off x="7467448" y="271576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권역책임의료기관 AI 진료시스템 도입 지원사업 (행정·분석 자동화)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71336" y="329184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DEAF9"/>
          </a:solidFill>
          <a:ln/>
        </p:spPr>
      </p:sp>
      <p:sp>
        <p:nvSpPr>
          <p:cNvPr id="25" name="Text 23"/>
          <p:cNvSpPr/>
          <p:nvPr/>
        </p:nvSpPr>
        <p:spPr>
          <a:xfrm>
            <a:off x="6571336" y="329184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A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</a:t>
            </a:r>
            <a:endParaRPr lang="en-US" sz="950" dirty="0"/>
          </a:p>
        </p:txBody>
      </p:sp>
      <p:sp>
        <p:nvSpPr>
          <p:cNvPr id="26" name="Text 24">
            <a:hlinkClick r:id="rId4" tooltip="출처 보기"/>
          </p:cNvPr>
          <p:cNvSpPr/>
          <p:nvPr/>
        </p:nvSpPr>
        <p:spPr>
          <a:xfrm>
            <a:off x="7467448" y="326440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미국 병원 80%가 EHR 예측 AI 활용(2024, ONC) · Xsolis 실시간 위험도 분석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527288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3977640"/>
            <a:ext cx="128016" cy="17830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9" name="Shape 27"/>
          <p:cNvSpPr/>
          <p:nvPr/>
        </p:nvSpPr>
        <p:spPr>
          <a:xfrm>
            <a:off x="932688" y="4197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08760" y="4206240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자동화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32688" y="475488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" y="475488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</a:t>
            </a:r>
            <a:endParaRPr lang="en-US" sz="950" dirty="0"/>
          </a:p>
        </p:txBody>
      </p:sp>
      <p:sp>
        <p:nvSpPr>
          <p:cNvPr id="34" name="Text 32">
            <a:hlinkClick r:id="rId5" tooltip="출처 보기"/>
          </p:cNvPr>
          <p:cNvSpPr/>
          <p:nvPr/>
        </p:nvSpPr>
        <p:spPr>
          <a:xfrm>
            <a:off x="1828800" y="472744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응급실 퇴실기록 등 의무기록 실시간 AI 자동 생성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2688" y="53035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DEAF9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" y="530352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A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</a:t>
            </a:r>
            <a:endParaRPr lang="en-US" sz="950" dirty="0"/>
          </a:p>
        </p:txBody>
      </p:sp>
      <p:sp>
        <p:nvSpPr>
          <p:cNvPr id="37" name="Text 35">
            <a:hlinkClick r:id="rId6" tooltip="출처 보기"/>
          </p:cNvPr>
          <p:cNvSpPr/>
          <p:nvPr/>
        </p:nvSpPr>
        <p:spPr>
          <a:xfrm>
            <a:off x="1828800" y="527608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BI 반자동 보고 워크플로우 · 생성형 AI 보고서 자동화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78728" y="3977640"/>
            <a:ext cx="527288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78728" y="3977640"/>
            <a:ext cx="128016" cy="1783080"/>
          </a:xfrm>
          <a:prstGeom prst="rect">
            <a:avLst/>
          </a:prstGeom>
          <a:solidFill>
            <a:srgbClr val="5B4AD1"/>
          </a:solidFill>
          <a:ln/>
        </p:spPr>
      </p:sp>
      <p:sp>
        <p:nvSpPr>
          <p:cNvPr id="40" name="Shape 38"/>
          <p:cNvSpPr/>
          <p:nvPr/>
        </p:nvSpPr>
        <p:spPr>
          <a:xfrm>
            <a:off x="6571336" y="4197096"/>
            <a:ext cx="457200" cy="457200"/>
          </a:xfrm>
          <a:prstGeom prst="ellipse">
            <a:avLst/>
          </a:prstGeom>
          <a:solidFill>
            <a:srgbClr val="5B4AD1"/>
          </a:solidFill>
          <a:ln/>
        </p:spPr>
      </p:sp>
      <p:sp>
        <p:nvSpPr>
          <p:cNvPr id="41" name="Text 39"/>
          <p:cNvSpPr/>
          <p:nvPr/>
        </p:nvSpPr>
        <p:spPr>
          <a:xfrm>
            <a:off x="6571336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47408" y="4206240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교육자료 생성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571336" y="475488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/>
        </p:spPr>
      </p:sp>
      <p:sp>
        <p:nvSpPr>
          <p:cNvPr id="44" name="Text 42"/>
          <p:cNvSpPr/>
          <p:nvPr/>
        </p:nvSpPr>
        <p:spPr>
          <a:xfrm>
            <a:off x="6571336" y="475488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</a:t>
            </a:r>
            <a:endParaRPr lang="en-US" sz="950" dirty="0"/>
          </a:p>
        </p:txBody>
      </p:sp>
      <p:sp>
        <p:nvSpPr>
          <p:cNvPr id="45" name="Text 43">
            <a:hlinkClick r:id="rId7" tooltip="출처 보기"/>
          </p:cNvPr>
          <p:cNvSpPr/>
          <p:nvPr/>
        </p:nvSpPr>
        <p:spPr>
          <a:xfrm>
            <a:off x="7467448" y="472744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서울아산병원 환자교육자료에 AI 콘텐츠 접목 (도입 초기)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571336" y="53035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DEAF9"/>
          </a:solidFill>
          <a:ln/>
        </p:spPr>
      </p:sp>
      <p:sp>
        <p:nvSpPr>
          <p:cNvPr id="47" name="Text 45"/>
          <p:cNvSpPr/>
          <p:nvPr/>
        </p:nvSpPr>
        <p:spPr>
          <a:xfrm>
            <a:off x="6571336" y="530352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A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</a:t>
            </a:r>
            <a:endParaRPr lang="en-US" sz="950" dirty="0"/>
          </a:p>
        </p:txBody>
      </p:sp>
      <p:sp>
        <p:nvSpPr>
          <p:cNvPr id="48" name="Text 46">
            <a:hlinkClick r:id="rId8" tooltip="출처 보기"/>
          </p:cNvPr>
          <p:cNvSpPr/>
          <p:nvPr/>
        </p:nvSpPr>
        <p:spPr>
          <a:xfrm>
            <a:off x="7467448" y="527608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롤플레이 사전동의 교육(내시경) 임상 검증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각 사례 텍스트를 클릭하면 출처 기사·자료로 이동합니다.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업무 자동화 AI · 시연 자료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CROSS-INDUSTRY CASES · 타 산업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산업의 도입 사례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4가지 자동화는 금융·법률·제조·유통·기업교육 등 산업 전반에서 이미 활발히 적용되고 있습니다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7288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128016" cy="1783080"/>
          </a:xfrm>
          <a:prstGeom prst="rect">
            <a:avLst/>
          </a:prstGeom>
          <a:solidFill>
            <a:srgbClr val="1763C7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185416"/>
            <a:ext cx="457200" cy="457200"/>
          </a:xfrm>
          <a:prstGeom prst="ellipse">
            <a:avLst/>
          </a:prstGeom>
          <a:solidFill>
            <a:srgbClr val="1763C7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185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194560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자동화 · 금융/법률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32688" y="274320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274320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</a:t>
            </a:r>
            <a:endParaRPr lang="en-US" sz="950" dirty="0"/>
          </a:p>
        </p:txBody>
      </p:sp>
      <p:sp>
        <p:nvSpPr>
          <p:cNvPr id="12" name="Text 10">
            <a:hlinkClick r:id="rId1" tooltip="출처 보기"/>
          </p:cNvPr>
          <p:cNvSpPr/>
          <p:nvPr/>
        </p:nvSpPr>
        <p:spPr>
          <a:xfrm>
            <a:off x="1828800" y="271576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보험사 AI OCR로 청구문서 자동 분류·인식, 심사 속도 60%↑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32688" y="329184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BEFD9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29184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8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</a:t>
            </a:r>
            <a:endParaRPr lang="en-US" sz="950" dirty="0"/>
          </a:p>
        </p:txBody>
      </p:sp>
      <p:sp>
        <p:nvSpPr>
          <p:cNvPr id="15" name="Text 13">
            <a:hlinkClick r:id="rId2" tooltip="출처 보기"/>
          </p:cNvPr>
          <p:cNvSpPr/>
          <p:nvPr/>
        </p:nvSpPr>
        <p:spPr>
          <a:xfrm>
            <a:off x="1828800" y="326440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계약 검토로 검토시간 70~90% 단축 (LegalOn 등)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78728" y="1965960"/>
            <a:ext cx="527288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8728" y="1965960"/>
            <a:ext cx="128016" cy="1783080"/>
          </a:xfrm>
          <a:prstGeom prst="rect">
            <a:avLst/>
          </a:prstGeom>
          <a:solidFill>
            <a:srgbClr val="0F9D8E"/>
          </a:solidFill>
          <a:ln/>
        </p:spPr>
      </p:sp>
      <p:sp>
        <p:nvSpPr>
          <p:cNvPr id="18" name="Shape 16"/>
          <p:cNvSpPr/>
          <p:nvPr/>
        </p:nvSpPr>
        <p:spPr>
          <a:xfrm>
            <a:off x="6571336" y="2185416"/>
            <a:ext cx="457200" cy="457200"/>
          </a:xfrm>
          <a:prstGeom prst="ellipse">
            <a:avLst/>
          </a:prstGeom>
          <a:solidFill>
            <a:srgbClr val="0F9D8E"/>
          </a:solidFill>
          <a:ln/>
        </p:spPr>
      </p:sp>
      <p:sp>
        <p:nvSpPr>
          <p:cNvPr id="19" name="Text 17"/>
          <p:cNvSpPr/>
          <p:nvPr/>
        </p:nvSpPr>
        <p:spPr>
          <a:xfrm>
            <a:off x="6571336" y="2185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47408" y="2194560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· 제조/유통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71336" y="274320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/>
        </p:spPr>
      </p:sp>
      <p:sp>
        <p:nvSpPr>
          <p:cNvPr id="22" name="Text 20"/>
          <p:cNvSpPr/>
          <p:nvPr/>
        </p:nvSpPr>
        <p:spPr>
          <a:xfrm>
            <a:off x="6571336" y="274320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</a:t>
            </a:r>
            <a:endParaRPr lang="en-US" sz="950" dirty="0"/>
          </a:p>
        </p:txBody>
      </p:sp>
      <p:sp>
        <p:nvSpPr>
          <p:cNvPr id="23" name="Text 21">
            <a:hlinkClick r:id="rId3" tooltip="출처 보기"/>
          </p:cNvPr>
          <p:cNvSpPr/>
          <p:nvPr/>
        </p:nvSpPr>
        <p:spPr>
          <a:xfrm>
            <a:off x="7467448" y="271576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현대차 글레오 AI·HMGICS — 실시간 공장·차량 운영 분석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71336" y="329184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2F4F1"/>
          </a:solidFill>
          <a:ln/>
        </p:spPr>
      </p:sp>
      <p:sp>
        <p:nvSpPr>
          <p:cNvPr id="25" name="Text 23"/>
          <p:cNvSpPr/>
          <p:nvPr/>
        </p:nvSpPr>
        <p:spPr>
          <a:xfrm>
            <a:off x="6571336" y="329184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9D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</a:t>
            </a:r>
            <a:endParaRPr lang="en-US" sz="950" dirty="0"/>
          </a:p>
        </p:txBody>
      </p:sp>
      <p:sp>
        <p:nvSpPr>
          <p:cNvPr id="26" name="Text 24">
            <a:hlinkClick r:id="rId4" tooltip="출처 보기"/>
          </p:cNvPr>
          <p:cNvSpPr/>
          <p:nvPr/>
        </p:nvSpPr>
        <p:spPr>
          <a:xfrm>
            <a:off x="7467448" y="326440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상품 이미지로 카테고리 예측·데이터 자동 정제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527288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3977640"/>
            <a:ext cx="128016" cy="17830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9" name="Shape 27"/>
          <p:cNvSpPr/>
          <p:nvPr/>
        </p:nvSpPr>
        <p:spPr>
          <a:xfrm>
            <a:off x="932688" y="4197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08760" y="4206240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자동화 · 기업/컨설팅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32688" y="475488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" y="475488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</a:t>
            </a:r>
            <a:endParaRPr lang="en-US" sz="950" dirty="0"/>
          </a:p>
        </p:txBody>
      </p:sp>
      <p:sp>
        <p:nvSpPr>
          <p:cNvPr id="34" name="Text 32">
            <a:hlinkClick r:id="rId5" tooltip="출처 보기"/>
          </p:cNvPr>
          <p:cNvSpPr/>
          <p:nvPr/>
        </p:nvSpPr>
        <p:spPr>
          <a:xfrm>
            <a:off x="1828800" y="472744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부서별 전표 분석으로 오류↓·비용 프로세스 간소화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2688" y="5303520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BEFD9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" y="5303520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8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컨설팅</a:t>
            </a:r>
            <a:endParaRPr lang="en-US" sz="950" dirty="0"/>
          </a:p>
        </p:txBody>
      </p:sp>
      <p:sp>
        <p:nvSpPr>
          <p:cNvPr id="37" name="Text 35">
            <a:hlinkClick r:id="rId6" tooltip="출처 보기"/>
          </p:cNvPr>
          <p:cNvSpPr/>
          <p:nvPr/>
        </p:nvSpPr>
        <p:spPr>
          <a:xfrm>
            <a:off x="2029968" y="5276088"/>
            <a:ext cx="3681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PwC — 생성형 AI로 비즈니스 보고·분석 자동화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78728" y="3977640"/>
            <a:ext cx="527288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25400" dir="5400000">
              <a:srgbClr val="BBCAD8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78728" y="3977640"/>
            <a:ext cx="128016" cy="1783080"/>
          </a:xfrm>
          <a:prstGeom prst="rect">
            <a:avLst/>
          </a:prstGeom>
          <a:solidFill>
            <a:srgbClr val="5B4AD1"/>
          </a:solidFill>
          <a:ln/>
        </p:spPr>
      </p:sp>
      <p:sp>
        <p:nvSpPr>
          <p:cNvPr id="40" name="Shape 38"/>
          <p:cNvSpPr/>
          <p:nvPr/>
        </p:nvSpPr>
        <p:spPr>
          <a:xfrm>
            <a:off x="6571336" y="4197096"/>
            <a:ext cx="457200" cy="457200"/>
          </a:xfrm>
          <a:prstGeom prst="ellipse">
            <a:avLst/>
          </a:prstGeom>
          <a:solidFill>
            <a:srgbClr val="5B4AD1"/>
          </a:solidFill>
          <a:ln/>
        </p:spPr>
      </p:sp>
      <p:sp>
        <p:nvSpPr>
          <p:cNvPr id="41" name="Text 39"/>
          <p:cNvSpPr/>
          <p:nvPr/>
        </p:nvSpPr>
        <p:spPr>
          <a:xfrm>
            <a:off x="6571336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47408" y="4206240"/>
            <a:ext cx="4175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교육자료 생성 · 기업 L&amp;D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571336" y="475488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/>
        </p:spPr>
      </p:sp>
      <p:sp>
        <p:nvSpPr>
          <p:cNvPr id="44" name="Text 42"/>
          <p:cNvSpPr/>
          <p:nvPr/>
        </p:nvSpPr>
        <p:spPr>
          <a:xfrm>
            <a:off x="6571336" y="475488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</a:t>
            </a:r>
            <a:endParaRPr lang="en-US" sz="950" dirty="0"/>
          </a:p>
        </p:txBody>
      </p:sp>
      <p:sp>
        <p:nvSpPr>
          <p:cNvPr id="45" name="Text 43">
            <a:hlinkClick r:id="rId7" tooltip="출처 보기"/>
          </p:cNvPr>
          <p:cNvSpPr/>
          <p:nvPr/>
        </p:nvSpPr>
        <p:spPr>
          <a:xfrm>
            <a:off x="7467448" y="472744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생성형 AI로 사내 교육과정 개발 시간 60% 단축 (NIIT)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571336" y="530352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DEAF9"/>
          </a:solidFill>
          <a:ln/>
        </p:spPr>
      </p:sp>
      <p:sp>
        <p:nvSpPr>
          <p:cNvPr id="47" name="Text 45"/>
          <p:cNvSpPr/>
          <p:nvPr/>
        </p:nvSpPr>
        <p:spPr>
          <a:xfrm>
            <a:off x="6571336" y="530352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A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endParaRPr lang="en-US" sz="950" dirty="0"/>
          </a:p>
        </p:txBody>
      </p:sp>
      <p:sp>
        <p:nvSpPr>
          <p:cNvPr id="48" name="Text 46">
            <a:hlinkClick r:id="rId8" tooltip="출처 보기"/>
          </p:cNvPr>
          <p:cNvSpPr/>
          <p:nvPr/>
        </p:nvSpPr>
        <p:spPr>
          <a:xfrm>
            <a:off x="7467448" y="5276088"/>
            <a:ext cx="388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invalidUrl="" action="" tgtFrame="" tooltip="출처 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IBM·Unilever 맞춤형 교육 등 $400B 기업교육 AI 전환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76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각 사례 텍스트를 클릭하면 출처 기사·자료로 이동합니다.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업무 자동화 AI · 시연 자료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944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9D8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시작해, 검증하며 넓힌다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민감하지 않은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행정·문서·교육 업무</a:t>
            </a:r>
            <a:pPr indent="0" marL="0">
              <a:buNone/>
            </a:pPr>
            <a:r>
              <a:rPr lang="en-US" sz="1800" dirty="0">
                <a:solidFill>
                  <a:srgbClr val="D6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→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검증하는 구조</a:t>
            </a:r>
            <a:pPr indent="0" marL="0">
              <a:buNone/>
            </a:pPr>
            <a:r>
              <a:rPr lang="en-US" sz="1800" dirty="0">
                <a:solidFill>
                  <a:srgbClr val="D6E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→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후 확대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0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가지가 안전하고 빠른 AI 도입의 핵심입니다.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첨부된 인터랙티브 데모로 각 사례를 직접 시연해 보세요.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2026-06-16T14:25:56Z</dcterms:created>
  <dcterms:modified xsi:type="dcterms:W3CDTF">2026-06-16T14:25:56Z</dcterms:modified>
</cp:coreProperties>
</file>